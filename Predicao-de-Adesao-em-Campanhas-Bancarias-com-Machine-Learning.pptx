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4630400" cy="8229600"/>
  <p:notesSz cx="8229600" cy="14630400"/>
  <p:embeddedFontLst>
    <p:embeddedFont>
      <p:font typeface="DM Sans Semi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984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160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1E669-FC3B-374A-B1A9-AC270C905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62C2FC-3E70-042D-4687-879D580E5D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83C535-9A25-F7CA-F66C-4AE0F3FBE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593AE-3134-0B97-00AC-CA15600ED0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15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Relationship Id="rId9" Type="http://schemas.openxmlformats.org/officeDocument/2006/relationships/image" Target="../media/image9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svg"/><Relationship Id="rId5" Type="http://schemas.openxmlformats.org/officeDocument/2006/relationships/image" Target="../media/image17.sv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64425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Predição de Adesão em Campanhas Bancárias com Machine Learning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53092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Este projeto utiliza técnicas de modelagem estatística e aprendizado de máquina para prever se um cliente aceitará uma oferta de marketing realizada por telefone.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874782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Equipe: Antônio Cordeiro, Joelma Printes, Leticia Natividade, Luciano Carvalho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3794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Objetivo do Projeto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458688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1020604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7770" y="5000744"/>
            <a:ext cx="306110" cy="3061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20604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Prever Adesão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020604" y="621137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Identificar clientes que responderão "SIM" à campanha bancária.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5216962" y="458688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6"/>
          <p:cNvSpPr/>
          <p:nvPr/>
        </p:nvSpPr>
        <p:spPr>
          <a:xfrm>
            <a:off x="5443776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30942" y="5000744"/>
            <a:ext cx="306110" cy="3061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443776" y="5720953"/>
            <a:ext cx="291988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Economizar Recursos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5443776" y="6211372"/>
            <a:ext cx="374273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Reduzir ligações desnecessárias e otimizar investimentos em marketing.</a:t>
            </a:r>
            <a:endParaRPr lang="en-US" sz="1750" dirty="0"/>
          </a:p>
        </p:txBody>
      </p:sp>
      <p:sp>
        <p:nvSpPr>
          <p:cNvPr id="14" name="Shape 9"/>
          <p:cNvSpPr/>
          <p:nvPr/>
        </p:nvSpPr>
        <p:spPr>
          <a:xfrm>
            <a:off x="9640133" y="4586883"/>
            <a:ext cx="4196358" cy="2940010"/>
          </a:xfrm>
          <a:prstGeom prst="roundRect">
            <a:avLst>
              <a:gd name="adj" fmla="val 11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0"/>
          <p:cNvSpPr/>
          <p:nvPr/>
        </p:nvSpPr>
        <p:spPr>
          <a:xfrm>
            <a:off x="9866948" y="4813697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54114" y="5000744"/>
            <a:ext cx="306110" cy="30611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866948" y="5720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Perfil do Cliente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9866948" y="6211372"/>
            <a:ext cx="374273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Identificar características dos clientes mais propensos à adesão.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071" y="595551"/>
            <a:ext cx="5414963" cy="676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 de Dados</a:t>
            </a:r>
            <a:endParaRPr lang="en-US" sz="4250" dirty="0"/>
          </a:p>
        </p:txBody>
      </p:sp>
      <p:sp>
        <p:nvSpPr>
          <p:cNvPr id="3" name="Text 1"/>
          <p:cNvSpPr/>
          <p:nvPr/>
        </p:nvSpPr>
        <p:spPr>
          <a:xfrm>
            <a:off x="758071" y="1949053"/>
            <a:ext cx="3693200" cy="714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41.188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250871" y="2934414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Registros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58071" y="3489365"/>
            <a:ext cx="36932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de clientes analisados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722019" y="1949053"/>
            <a:ext cx="3693200" cy="714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600"/>
              </a:lnSpc>
              <a:buNone/>
            </a:pPr>
            <a:r>
              <a:rPr lang="en-US" sz="56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17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214818" y="2934414"/>
            <a:ext cx="270748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Variáveis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722019" y="3489365"/>
            <a:ext cx="369320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Após processo de limpeza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071" y="4079438"/>
            <a:ext cx="7657148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dataset inclui informações sobre perfil socioeconômico, contatos anteriores, condições econômicas e dados da campanha.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8071" y="4967288"/>
            <a:ext cx="765714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· </a:t>
            </a: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Origem:</a:t>
            </a: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Dataset “Bank Marketing” (versão bank-additional-full.csv).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58071" y="5508665"/>
            <a:ext cx="765714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· </a:t>
            </a: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Amostra:</a:t>
            </a: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41.188 registros, 20 atributos + target.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071" y="6050042"/>
            <a:ext cx="765714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· </a:t>
            </a: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Target:</a:t>
            </a: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y (binário: "yes" ou "no").</a:t>
            </a:r>
            <a:endParaRPr lang="en-US" sz="170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1238" y="1840825"/>
            <a:ext cx="4928592" cy="5288399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951238" y="7372826"/>
            <a:ext cx="4928592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57600" cy="89339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054435" y="311825"/>
            <a:ext cx="45258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Limpeza e Preparação dos Dados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4054435" y="836176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4054435" y="1013579"/>
            <a:ext cx="10179129" cy="1524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4054435" y="1100733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Remoção de Viés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054435" y="1345883"/>
            <a:ext cx="101791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Eliminadas colunas que geravam vazamento: duration, pdays, previous e contact.</a:t>
            </a:r>
            <a:endParaRPr lang="en-US" sz="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4435" y="1654850"/>
            <a:ext cx="4742021" cy="6946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054435" y="254781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850" dirty="0"/>
          </a:p>
        </p:txBody>
      </p:sp>
      <p:sp>
        <p:nvSpPr>
          <p:cNvPr id="10" name="Shape 6"/>
          <p:cNvSpPr/>
          <p:nvPr/>
        </p:nvSpPr>
        <p:spPr>
          <a:xfrm>
            <a:off x="4054435" y="2725222"/>
            <a:ext cx="10179129" cy="1524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7"/>
          <p:cNvSpPr/>
          <p:nvPr/>
        </p:nvSpPr>
        <p:spPr>
          <a:xfrm>
            <a:off x="4054435" y="281237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Padronização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054435" y="3057525"/>
            <a:ext cx="101791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Dados normalizados com StandardScaler para melhor performance.</a:t>
            </a:r>
            <a:endParaRPr lang="en-US" sz="8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4435" y="3366492"/>
            <a:ext cx="5904548" cy="277141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054435" y="6336268"/>
            <a:ext cx="113348" cy="141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4054435" y="6513671"/>
            <a:ext cx="10179129" cy="1524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1"/>
          <p:cNvSpPr/>
          <p:nvPr/>
        </p:nvSpPr>
        <p:spPr>
          <a:xfrm>
            <a:off x="4054435" y="660082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Balanceamento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054435" y="6845975"/>
            <a:ext cx="10179129" cy="181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Classe "SIM" balanceada usando técnica SMOTE.</a:t>
            </a:r>
            <a:endParaRPr lang="en-US" sz="8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4435" y="7154942"/>
            <a:ext cx="4692491" cy="13821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6483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Análise Exploratória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64337"/>
            <a:ext cx="67773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Principais Descobertas sobre o Perfil dos Clientes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Faixa Etária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676061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Idades entre 30 e 60 anos possuem maior taxa de adesão.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Estado Civil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67606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Clientes casados foram os que mais disseram "sim" às ofertas.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Escolaridade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67606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Pessoas com ensino médio e superior aderem mais às campanhas.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18564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Profissões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4676061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Admin., services e technician concentram mais adesões.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Divisão dos Dados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Treino: 70%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Dados de treinamento com SMOTE aplicado para balanceamento.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15633" y="3396377"/>
            <a:ext cx="339328" cy="3393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Teste: 30%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Dados reservados para validação do modelo.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75201" y="3396377"/>
            <a:ext cx="339328" cy="33932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Escalonamento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Aplicado apenas no treino para evitar vazamento de dados.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5201" y="5655945"/>
            <a:ext cx="339328" cy="33932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49 Variáveis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Total de features após processo de encoding.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15633" y="5655945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6137" y="413385"/>
            <a:ext cx="3758446" cy="469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Modelos Avaliados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526137" y="1258967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Algoritmos Testados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26137" y="1662827"/>
            <a:ext cx="338257" cy="33825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14651" y="1714500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Regressão Logística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14651" y="2099548"/>
            <a:ext cx="611719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Modelo linear clássico para classificação binária.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26137" y="2640687"/>
            <a:ext cx="338257" cy="33825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014651" y="2692360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Naive Bayes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14651" y="3077408"/>
            <a:ext cx="611719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Abordagem probabilística baseada em teorema de Bayes.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26137" y="3618548"/>
            <a:ext cx="338257" cy="33825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14651" y="3670221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SVM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014651" y="4055269"/>
            <a:ext cx="611719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Support Vector Machine para separação de classes.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26137" y="4596408"/>
            <a:ext cx="338257" cy="338257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1014651" y="4648081"/>
            <a:ext cx="187916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XGBoost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014651" y="5033129"/>
            <a:ext cx="6117193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Gradient boosting avançado para alta performance.</a:t>
            </a:r>
            <a:endParaRPr lang="en-US" sz="11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6176" y="1277779"/>
            <a:ext cx="6605707" cy="660570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06176" y="8052554"/>
            <a:ext cx="1984653" cy="234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Métricas de Avaliação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06176" y="8437602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Acurácia geral do modelo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506176" y="8730615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Precisão, Recall e F1 da classe SIM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506176" y="9023628"/>
            <a:ext cx="6605707" cy="240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Matriz de confusão para interpretação detalhada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6642"/>
            <a:ext cx="662916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Resultados dos Modelos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1805583"/>
            <a:ext cx="7556421" cy="2229803"/>
          </a:xfrm>
          <a:prstGeom prst="roundRect">
            <a:avLst>
              <a:gd name="adj" fmla="val 152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2"/>
          <p:cNvSpPr/>
          <p:nvPr/>
        </p:nvSpPr>
        <p:spPr>
          <a:xfrm>
            <a:off x="824270" y="1836063"/>
            <a:ext cx="907256" cy="2168843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107758" y="270783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1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958340" y="206287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SVM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958340" y="2553295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Score: 0.438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958340" y="3052286"/>
            <a:ext cx="613457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Melhor equilíbrio entre recall e precisão. Acurácia de 0.88.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262199"/>
            <a:ext cx="7556421" cy="1866900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24270" y="4292679"/>
            <a:ext cx="907256" cy="1805940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107758" y="498300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2</a:t>
            </a:r>
            <a:endParaRPr lang="en-US" sz="2650" dirty="0"/>
          </a:p>
        </p:txBody>
      </p:sp>
      <p:sp>
        <p:nvSpPr>
          <p:cNvPr id="13" name="Text 10"/>
          <p:cNvSpPr/>
          <p:nvPr/>
        </p:nvSpPr>
        <p:spPr>
          <a:xfrm>
            <a:off x="1958340" y="451949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XGBoost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958340" y="5009912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F1 Score: 0.435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1958340" y="5508903"/>
            <a:ext cx="61345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Desempenho muito próximo ao SVM. Acurácia de 0.89.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793790" y="6384250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SVM foi escolhido como modelo final por apresentar o melhor equilíbrio entre precisão e recall para a classe positiva, essencial para campanhas de marketing eficientes.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609600"/>
            <a:ext cx="6075998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Modelo Final e Pipeline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930" y="1745694"/>
            <a:ext cx="6539270" cy="8867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97625" y="2854166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SVM Treinado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97625" y="3333631"/>
            <a:ext cx="609588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Modelo escolhido com melhor performance.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745694"/>
            <a:ext cx="6539270" cy="88677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6894" y="2854166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Scaler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7536894" y="3333631"/>
            <a:ext cx="609588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Padronização dos dados de entrada.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930" y="3910013"/>
            <a:ext cx="6539270" cy="8867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97625" y="5018484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Features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997625" y="5497949"/>
            <a:ext cx="609588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Lista completa de variáveis do modelo.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3910013"/>
            <a:ext cx="6539270" cy="8867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36894" y="5018484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Pipeline Salvo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7536894" y="5497949"/>
            <a:ext cx="609588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Arquivo best_model_pipeline.pkl pronto para uso.</a:t>
            </a:r>
            <a:endParaRPr lang="en-US" sz="1700" dirty="0"/>
          </a:p>
        </p:txBody>
      </p:sp>
      <p:sp>
        <p:nvSpPr>
          <p:cNvPr id="15" name="Shape 9"/>
          <p:cNvSpPr/>
          <p:nvPr/>
        </p:nvSpPr>
        <p:spPr>
          <a:xfrm>
            <a:off x="775930" y="6323648"/>
            <a:ext cx="13078539" cy="1296710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625" y="6658094"/>
            <a:ext cx="277058" cy="22169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96378" y="6600706"/>
            <a:ext cx="12136398" cy="709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 pipeline completo permite fazer previsões com novos dados reais de forma rápida e confiável, mantendo toda a consistência do processamento.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0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0218" y="620792"/>
            <a:ext cx="7339489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Interface Gráfica Interativa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90218" y="1890713"/>
            <a:ext cx="3471029" cy="352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Desenvolvida com Gradio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0218" y="2621518"/>
            <a:ext cx="112871" cy="112871"/>
          </a:xfrm>
          <a:prstGeom prst="roundRect">
            <a:avLst>
              <a:gd name="adj" fmla="val 40506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1128832" y="2497336"/>
            <a:ext cx="3573423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Inputs numéricos e categóricos intuitivos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90218" y="3795236"/>
            <a:ext cx="112871" cy="112871"/>
          </a:xfrm>
          <a:prstGeom prst="roundRect">
            <a:avLst>
              <a:gd name="adj" fmla="val 40506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128832" y="3671054"/>
            <a:ext cx="3573423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Conversão automática para formato do modelo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90218" y="4968954"/>
            <a:ext cx="112871" cy="112871"/>
          </a:xfrm>
          <a:prstGeom prst="roundRect">
            <a:avLst>
              <a:gd name="adj" fmla="val 40506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7"/>
          <p:cNvSpPr/>
          <p:nvPr/>
        </p:nvSpPr>
        <p:spPr>
          <a:xfrm>
            <a:off x="1128832" y="4844772"/>
            <a:ext cx="3573423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Previsão em tempo real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790218" y="5781556"/>
            <a:ext cx="112871" cy="112871"/>
          </a:xfrm>
          <a:prstGeom prst="roundRect">
            <a:avLst>
              <a:gd name="adj" fmla="val 405064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128832" y="5657374"/>
            <a:ext cx="3573423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Interface amigável para demonstração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1128832" y="6633567"/>
            <a:ext cx="3573423" cy="722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"Sim, o cliente vai aderir" ou "Não, o cliente não irá aderir"</a:t>
            </a:r>
            <a:endParaRPr lang="en-US" sz="1750" dirty="0"/>
          </a:p>
        </p:txBody>
      </p:sp>
      <p:sp>
        <p:nvSpPr>
          <p:cNvPr id="14" name="Shape 11"/>
          <p:cNvSpPr/>
          <p:nvPr/>
        </p:nvSpPr>
        <p:spPr>
          <a:xfrm>
            <a:off x="790218" y="6633567"/>
            <a:ext cx="30480" cy="722233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658" y="1918930"/>
            <a:ext cx="3100626" cy="31006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526D7-6AF4-09CF-B2B8-7CD8B2C9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D379F4F-13A8-BD7D-F9D4-000581DDAB3F}"/>
              </a:ext>
            </a:extLst>
          </p:cNvPr>
          <p:cNvSpPr/>
          <p:nvPr/>
        </p:nvSpPr>
        <p:spPr>
          <a:xfrm>
            <a:off x="5152154" y="4006544"/>
            <a:ext cx="7339489" cy="705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Obrigado!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11540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555</Words>
  <Application>Microsoft Office PowerPoint</Application>
  <PresentationFormat>Personalizar</PresentationFormat>
  <Paragraphs>103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DM Sans Semi Bold</vt:lpstr>
      <vt:lpstr>Arial</vt:lpstr>
      <vt:lpstr>Inter Medium</vt:lpstr>
      <vt:lpstr>DM Sans Light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wellington printes</cp:lastModifiedBy>
  <cp:revision>3</cp:revision>
  <dcterms:created xsi:type="dcterms:W3CDTF">2025-12-06T07:13:56Z</dcterms:created>
  <dcterms:modified xsi:type="dcterms:W3CDTF">2025-12-06T07:16:38Z</dcterms:modified>
</cp:coreProperties>
</file>