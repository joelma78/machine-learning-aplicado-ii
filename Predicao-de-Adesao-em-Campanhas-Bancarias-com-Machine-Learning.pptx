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4" r:id="rId11"/>
    <p:sldId id="265" r:id="rId12"/>
    <p:sldId id="266" r:id="rId13"/>
  </p:sldIdLst>
  <p:sldSz cx="14630400" cy="8229600"/>
  <p:notesSz cx="8229600" cy="14630400"/>
  <p:embeddedFontLst>
    <p:embeddedFont>
      <p:font typeface="DM Sans Semi Bold" panose="020B0604020202020204" charset="0"/>
      <p:regular r:id="rId15"/>
    </p:embeddedFont>
    <p:embeddedFont>
      <p:font typeface="Inter Medium" panose="020B0604020202020204" charset="0"/>
      <p:regular r:id="rId16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984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160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90C34-A76C-24E5-978C-66D9839BF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38FE87-7B4C-2140-933C-298B90AA26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4E49D9-B89F-B0E3-E9C3-6AAF8F20B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E5E94-34DA-E6BA-B3A3-14D9EADAFB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1132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1E669-FC3B-374A-B1A9-AC270C905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62C2FC-3E70-042D-4687-879D580E5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3C535-9A25-F7CA-F66C-4AE0F3FBE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593AE-3134-0B97-00AC-CA15600ED0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15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064425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550"/>
              </a:lnSpc>
            </a:pPr>
            <a:r>
              <a:rPr lang="pt-BR" sz="4400" b="1" dirty="0"/>
              <a:t>Modelos Preditivos para Adesão a Campanhas Bancárias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93790" y="4248539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Este projeto utiliza técnicas de modelagem estatística e aprendizado de máquina para prever se um cliente aceitará uma oferta de marketing realizada por telefone.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5874782"/>
            <a:ext cx="75564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Equipe: Antônio Cordeiro, Joelma Printes, Leticia Natividade, Luciano Carvalho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53794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Objetivo do Projeto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4586883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2"/>
          <p:cNvSpPr/>
          <p:nvPr/>
        </p:nvSpPr>
        <p:spPr>
          <a:xfrm>
            <a:off x="1020604" y="4813697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5000744"/>
            <a:ext cx="306110" cy="3061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0604" y="57209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Prever Adesão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020604" y="6211372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Identificar clientes que responderão "SIM" à campanha bancária.</a:t>
            </a:r>
            <a:endParaRPr lang="en-US" sz="1750" dirty="0"/>
          </a:p>
        </p:txBody>
      </p:sp>
      <p:sp>
        <p:nvSpPr>
          <p:cNvPr id="9" name="Shape 5"/>
          <p:cNvSpPr/>
          <p:nvPr/>
        </p:nvSpPr>
        <p:spPr>
          <a:xfrm>
            <a:off x="5216962" y="4586883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6"/>
          <p:cNvSpPr/>
          <p:nvPr/>
        </p:nvSpPr>
        <p:spPr>
          <a:xfrm>
            <a:off x="5443776" y="4813697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0942" y="5000744"/>
            <a:ext cx="306110" cy="3061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3776" y="5720953"/>
            <a:ext cx="291988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Economizar Recursos</a:t>
            </a:r>
            <a:endParaRPr lang="en-US" sz="2200" dirty="0"/>
          </a:p>
        </p:txBody>
      </p:sp>
      <p:sp>
        <p:nvSpPr>
          <p:cNvPr id="13" name="Text 8"/>
          <p:cNvSpPr/>
          <p:nvPr/>
        </p:nvSpPr>
        <p:spPr>
          <a:xfrm>
            <a:off x="5443776" y="6211372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Reduzir ligações desnecessárias e otimizar investimentos em marketing.</a:t>
            </a:r>
            <a:endParaRPr lang="en-US" sz="1750" dirty="0"/>
          </a:p>
        </p:txBody>
      </p:sp>
      <p:sp>
        <p:nvSpPr>
          <p:cNvPr id="14" name="Shape 9"/>
          <p:cNvSpPr/>
          <p:nvPr/>
        </p:nvSpPr>
        <p:spPr>
          <a:xfrm>
            <a:off x="9640133" y="4586883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0"/>
          <p:cNvSpPr/>
          <p:nvPr/>
        </p:nvSpPr>
        <p:spPr>
          <a:xfrm>
            <a:off x="9866948" y="4813697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54114" y="5000744"/>
            <a:ext cx="306110" cy="30611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866948" y="57209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Perfil do Cliente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866948" y="6211372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Identificar características dos clientes mais propensos à adesão.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071" y="595551"/>
            <a:ext cx="5414963" cy="6768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Base de Dados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758071" y="1949053"/>
            <a:ext cx="3693200" cy="714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600"/>
              </a:lnSpc>
              <a:buNone/>
            </a:pPr>
            <a:r>
              <a:rPr lang="en-US" sz="56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41.188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250871" y="2934414"/>
            <a:ext cx="2707481" cy="33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Registros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58071" y="3489365"/>
            <a:ext cx="3693200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Total de clientes analisados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22019" y="1949053"/>
            <a:ext cx="3693200" cy="714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600"/>
              </a:lnSpc>
              <a:buNone/>
            </a:pPr>
            <a:r>
              <a:rPr lang="en-US" sz="56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17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214818" y="2934414"/>
            <a:ext cx="2707481" cy="33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Variáveis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22019" y="3489365"/>
            <a:ext cx="3693200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Após processo de limpeza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071" y="4079438"/>
            <a:ext cx="7657148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 dataset inclui informações sobre perfil socioeconômico, contatos anteriores, condições econômicas e dados da campanha.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071" y="4967288"/>
            <a:ext cx="7657148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· </a:t>
            </a:r>
            <a:r>
              <a:rPr lang="en-US" sz="170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Origem:</a:t>
            </a: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Dataset “Bank Marketing” (versão bank-additional-full.csv).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58071" y="5508665"/>
            <a:ext cx="7657148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· </a:t>
            </a:r>
            <a:r>
              <a:rPr lang="en-US" sz="170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Amostra:</a:t>
            </a: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41.188 registros, 20 atributos + target.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8071" y="6050042"/>
            <a:ext cx="7657148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· </a:t>
            </a:r>
            <a:r>
              <a:rPr lang="en-US" sz="170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Target:</a:t>
            </a: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y (binário: "yes" ou "no").</a:t>
            </a:r>
            <a:endParaRPr lang="en-US" sz="17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238" y="1840825"/>
            <a:ext cx="4928592" cy="528839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951238" y="7372826"/>
            <a:ext cx="4928592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657600" cy="89339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54435" y="311825"/>
            <a:ext cx="452580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Limpeza e Preparação dos Dados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054435" y="836176"/>
            <a:ext cx="113348" cy="141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4054435" y="1013579"/>
            <a:ext cx="10179129" cy="15240"/>
          </a:xfrm>
          <a:prstGeom prst="rect">
            <a:avLst/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4054435" y="1100733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Remoção de Viés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054435" y="1345883"/>
            <a:ext cx="10179129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Eliminadas colunas que geravam vazamento: duration, pdays, previous e contact.</a:t>
            </a:r>
            <a:endParaRPr lang="en-US" sz="8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435" y="1654850"/>
            <a:ext cx="4742021" cy="6946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054435" y="2547818"/>
            <a:ext cx="113348" cy="141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4054435" y="2725222"/>
            <a:ext cx="10179129" cy="15240"/>
          </a:xfrm>
          <a:prstGeom prst="rect">
            <a:avLst/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7"/>
          <p:cNvSpPr/>
          <p:nvPr/>
        </p:nvSpPr>
        <p:spPr>
          <a:xfrm>
            <a:off x="4054435" y="2812375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Padronização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054435" y="3057525"/>
            <a:ext cx="10179129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Dados normalizados com StandardScaler para melhor performance.</a:t>
            </a:r>
            <a:endParaRPr lang="en-US" sz="8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4435" y="3366492"/>
            <a:ext cx="5904548" cy="277141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054435" y="6336268"/>
            <a:ext cx="113348" cy="141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4054435" y="6513671"/>
            <a:ext cx="10179129" cy="15240"/>
          </a:xfrm>
          <a:prstGeom prst="rect">
            <a:avLst/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1"/>
          <p:cNvSpPr/>
          <p:nvPr/>
        </p:nvSpPr>
        <p:spPr>
          <a:xfrm>
            <a:off x="4054435" y="6600825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Balanceamento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4054435" y="6845975"/>
            <a:ext cx="10179129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Classe "SIM" balanceada usando técnica SMOTE.</a:t>
            </a:r>
            <a:endParaRPr lang="en-US" sz="8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4435" y="7154942"/>
            <a:ext cx="4692491" cy="13821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46483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Análise Exploratória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264337"/>
            <a:ext cx="677739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Principais Descobertas sobre o Perfil dos Clientes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1856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Faixa Etária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676061"/>
            <a:ext cx="304800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Idades entre 30 e 60 anos possuem maior taxa de adesão.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4125278" y="41856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Estado Civil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25278" y="4676061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Clientes casados foram os que mais disseram "sim" às ofertas.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456884" y="41856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Escolaridade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456884" y="4676061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Pessoas com ensino médio e superior aderem mais às campanhas.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10788491" y="41856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Profissões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788491" y="4676061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Admin., services e technician concentram mais adesões.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110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Divisão dos Dados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1857256" y="28615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Treino: 70%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351967"/>
            <a:ext cx="389870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Dados de treinamento com SMOTE aplicado para balanceamento.</a:t>
            </a:r>
            <a:endParaRPr lang="en-US" sz="1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15633" y="3396377"/>
            <a:ext cx="339328" cy="33932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37790" y="28615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Teste: 30%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9937790" y="3351967"/>
            <a:ext cx="3898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Dados reservados para validação do modelo.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75201" y="3396377"/>
            <a:ext cx="339328" cy="33932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937790" y="53141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Escalonamento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9937790" y="5804535"/>
            <a:ext cx="3898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Aplicado apenas no treino para evitar vazamento de dados.</a:t>
            </a:r>
            <a:endParaRPr lang="en-US" sz="17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275201" y="5655945"/>
            <a:ext cx="339328" cy="339328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857256" y="53141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49 Variáveis</a:t>
            </a:r>
            <a:endParaRPr lang="en-US" sz="2200" dirty="0"/>
          </a:p>
        </p:txBody>
      </p:sp>
      <p:sp>
        <p:nvSpPr>
          <p:cNvPr id="16" name="Text 8"/>
          <p:cNvSpPr/>
          <p:nvPr/>
        </p:nvSpPr>
        <p:spPr>
          <a:xfrm>
            <a:off x="793790" y="5804535"/>
            <a:ext cx="389870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Total de features após processo de encoding.</a:t>
            </a:r>
            <a:endParaRPr lang="en-US" sz="17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15633" y="5655945"/>
            <a:ext cx="339328" cy="339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6137" y="413385"/>
            <a:ext cx="3758446" cy="469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Modelos Avaliados</a:t>
            </a:r>
            <a:endParaRPr lang="en-US" sz="2950" dirty="0"/>
          </a:p>
        </p:txBody>
      </p: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B94A0730-A838-B3CB-4DE7-DEB2AF619EC9}"/>
              </a:ext>
            </a:extLst>
          </p:cNvPr>
          <p:cNvGrpSpPr/>
          <p:nvPr/>
        </p:nvGrpSpPr>
        <p:grpSpPr>
          <a:xfrm>
            <a:off x="526137" y="1409224"/>
            <a:ext cx="4246960" cy="507206"/>
            <a:chOff x="526137" y="1662827"/>
            <a:chExt cx="4246960" cy="507206"/>
          </a:xfrm>
        </p:grpSpPr>
        <p:sp>
          <p:nvSpPr>
            <p:cNvPr id="4" name="Shape 2"/>
            <p:cNvSpPr/>
            <p:nvPr/>
          </p:nvSpPr>
          <p:spPr>
            <a:xfrm>
              <a:off x="526137" y="1662827"/>
              <a:ext cx="338257" cy="338257"/>
            </a:xfrm>
            <a:prstGeom prst="roundRect">
              <a:avLst>
                <a:gd name="adj" fmla="val 6667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3"/>
            <p:cNvSpPr/>
            <p:nvPr/>
          </p:nvSpPr>
          <p:spPr>
            <a:xfrm>
              <a:off x="1014651" y="1714500"/>
              <a:ext cx="1879163" cy="23479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50" dirty="0">
                  <a:solidFill>
                    <a:srgbClr val="464646"/>
                  </a:solidFill>
                  <a:latin typeface="DM Sans Semi Bold" pitchFamily="34" charset="0"/>
                  <a:ea typeface="DM Sans Semi Bold" pitchFamily="34" charset="-122"/>
                  <a:cs typeface="DM Sans Semi Bold" pitchFamily="34" charset="-120"/>
                </a:rPr>
                <a:t>Regressão Logística</a:t>
              </a:r>
              <a:endParaRPr lang="en-US" sz="145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1014650" y="1961197"/>
              <a:ext cx="3758447" cy="20883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50"/>
                </a:lnSpc>
                <a:buNone/>
              </a:pPr>
              <a:r>
                <a:rPr lang="en-US" sz="11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Modelo linear clássico para classificação binária.</a:t>
              </a:r>
              <a:endParaRPr lang="en-US" sz="1150" dirty="0"/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1D59C2BE-63EB-7BB8-2E3C-C3790F752A84}"/>
              </a:ext>
            </a:extLst>
          </p:cNvPr>
          <p:cNvGrpSpPr/>
          <p:nvPr/>
        </p:nvGrpSpPr>
        <p:grpSpPr>
          <a:xfrm>
            <a:off x="8423233" y="1308089"/>
            <a:ext cx="6510660" cy="439392"/>
            <a:chOff x="470927" y="6247634"/>
            <a:chExt cx="6510660" cy="439392"/>
          </a:xfrm>
        </p:grpSpPr>
        <p:sp>
          <p:nvSpPr>
            <p:cNvPr id="7" name="Shape 5"/>
            <p:cNvSpPr/>
            <p:nvPr/>
          </p:nvSpPr>
          <p:spPr>
            <a:xfrm>
              <a:off x="470927" y="6280177"/>
              <a:ext cx="338257" cy="338257"/>
            </a:xfrm>
            <a:prstGeom prst="roundRect">
              <a:avLst>
                <a:gd name="adj" fmla="val 6667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6"/>
            <p:cNvSpPr/>
            <p:nvPr/>
          </p:nvSpPr>
          <p:spPr>
            <a:xfrm>
              <a:off x="864394" y="6247634"/>
              <a:ext cx="1879163" cy="23479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50" dirty="0">
                  <a:solidFill>
                    <a:srgbClr val="464646"/>
                  </a:solidFill>
                  <a:latin typeface="DM Sans Semi Bold" pitchFamily="34" charset="0"/>
                  <a:ea typeface="DM Sans Semi Bold" pitchFamily="34" charset="-122"/>
                  <a:cs typeface="DM Sans Semi Bold" pitchFamily="34" charset="-120"/>
                </a:rPr>
                <a:t>Naive Bayes</a:t>
              </a:r>
              <a:endParaRPr lang="en-US" sz="14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64394" y="6446520"/>
              <a:ext cx="6117193" cy="2405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50"/>
                </a:lnSpc>
                <a:buNone/>
              </a:pPr>
              <a:r>
                <a:rPr lang="en-US" sz="11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Abordagem probabilística baseada em teorema de Bayes.</a:t>
              </a:r>
              <a:endParaRPr lang="en-US" sz="1150" dirty="0"/>
            </a:p>
          </p:txBody>
        </p:sp>
      </p:grpSp>
      <p:pic>
        <p:nvPicPr>
          <p:cNvPr id="2052" name="Picture 4">
            <a:extLst>
              <a:ext uri="{FF2B5EF4-FFF2-40B4-BE49-F238E27FC236}">
                <a16:creationId xmlns:a16="http://schemas.microsoft.com/office/drawing/2014/main" id="{AD079AA3-F5AC-6536-7147-0EBD92E665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004" y="2461081"/>
            <a:ext cx="5893104" cy="4956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FA12D92-7765-DE1D-F590-015EACACD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5668" y="2256948"/>
            <a:ext cx="6117193" cy="514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BBAC8-DB7F-F9C7-FD59-40E3C377C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2A64002-B466-2F12-0311-ABAC5C2039C6}"/>
              </a:ext>
            </a:extLst>
          </p:cNvPr>
          <p:cNvSpPr/>
          <p:nvPr/>
        </p:nvSpPr>
        <p:spPr>
          <a:xfrm>
            <a:off x="526137" y="413385"/>
            <a:ext cx="3758446" cy="469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Modelos Avaliados</a:t>
            </a:r>
            <a:endParaRPr lang="en-US" sz="2950" dirty="0"/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F8BCD319-BF21-B8B5-6252-092B10CC8678}"/>
              </a:ext>
            </a:extLst>
          </p:cNvPr>
          <p:cNvGrpSpPr/>
          <p:nvPr/>
        </p:nvGrpSpPr>
        <p:grpSpPr>
          <a:xfrm>
            <a:off x="526137" y="1568212"/>
            <a:ext cx="6605707" cy="677227"/>
            <a:chOff x="526137" y="3618548"/>
            <a:chExt cx="6605707" cy="677227"/>
          </a:xfrm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6AF50AD2-11EE-D4BF-C07B-257854B46AEE}"/>
                </a:ext>
              </a:extLst>
            </p:cNvPr>
            <p:cNvSpPr/>
            <p:nvPr/>
          </p:nvSpPr>
          <p:spPr>
            <a:xfrm>
              <a:off x="526137" y="3618548"/>
              <a:ext cx="338257" cy="338257"/>
            </a:xfrm>
            <a:prstGeom prst="roundRect">
              <a:avLst>
                <a:gd name="adj" fmla="val 6667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BD1BC256-E432-F253-44A3-73B5334D1B04}"/>
                </a:ext>
              </a:extLst>
            </p:cNvPr>
            <p:cNvSpPr/>
            <p:nvPr/>
          </p:nvSpPr>
          <p:spPr>
            <a:xfrm>
              <a:off x="1014651" y="3670221"/>
              <a:ext cx="1879163" cy="23479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50" dirty="0">
                  <a:solidFill>
                    <a:srgbClr val="464646"/>
                  </a:solidFill>
                  <a:latin typeface="DM Sans Semi Bold" pitchFamily="34" charset="0"/>
                  <a:ea typeface="DM Sans Semi Bold" pitchFamily="34" charset="-122"/>
                  <a:cs typeface="DM Sans Semi Bold" pitchFamily="34" charset="-120"/>
                </a:rPr>
                <a:t>SVM</a:t>
              </a:r>
              <a:endParaRPr lang="en-US" sz="1450" dirty="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1F8ECE83-B1E3-5BD9-5958-FFE077D532B2}"/>
                </a:ext>
              </a:extLst>
            </p:cNvPr>
            <p:cNvSpPr/>
            <p:nvPr/>
          </p:nvSpPr>
          <p:spPr>
            <a:xfrm>
              <a:off x="1014651" y="4055269"/>
              <a:ext cx="6117193" cy="2405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50"/>
                </a:lnSpc>
                <a:buNone/>
              </a:pPr>
              <a:r>
                <a:rPr lang="en-US" sz="11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Support Vector Machine para separação de classes.</a:t>
              </a:r>
              <a:endParaRPr lang="en-US" sz="1150" dirty="0"/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86ACCC65-9E4D-F41C-B7FC-C5D345A3B83F}"/>
              </a:ext>
            </a:extLst>
          </p:cNvPr>
          <p:cNvGrpSpPr/>
          <p:nvPr/>
        </p:nvGrpSpPr>
        <p:grpSpPr>
          <a:xfrm>
            <a:off x="8024693" y="1447959"/>
            <a:ext cx="6605707" cy="677227"/>
            <a:chOff x="526137" y="4596408"/>
            <a:chExt cx="6605707" cy="677227"/>
          </a:xfrm>
        </p:grpSpPr>
        <p:sp>
          <p:nvSpPr>
            <p:cNvPr id="13" name="Shape 11">
              <a:extLst>
                <a:ext uri="{FF2B5EF4-FFF2-40B4-BE49-F238E27FC236}">
                  <a16:creationId xmlns:a16="http://schemas.microsoft.com/office/drawing/2014/main" id="{4385BAF0-85C5-84BE-4019-6DB383D16F7E}"/>
                </a:ext>
              </a:extLst>
            </p:cNvPr>
            <p:cNvSpPr/>
            <p:nvPr/>
          </p:nvSpPr>
          <p:spPr>
            <a:xfrm>
              <a:off x="526137" y="4596408"/>
              <a:ext cx="338257" cy="338257"/>
            </a:xfrm>
            <a:prstGeom prst="roundRect">
              <a:avLst>
                <a:gd name="adj" fmla="val 6667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EB9F4EEF-40EF-6A60-5D1D-D2426257074B}"/>
                </a:ext>
              </a:extLst>
            </p:cNvPr>
            <p:cNvSpPr/>
            <p:nvPr/>
          </p:nvSpPr>
          <p:spPr>
            <a:xfrm>
              <a:off x="1014651" y="4648081"/>
              <a:ext cx="1879163" cy="23479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50" dirty="0">
                  <a:solidFill>
                    <a:srgbClr val="464646"/>
                  </a:solidFill>
                  <a:latin typeface="DM Sans Semi Bold" pitchFamily="34" charset="0"/>
                  <a:ea typeface="DM Sans Semi Bold" pitchFamily="34" charset="-122"/>
                  <a:cs typeface="DM Sans Semi Bold" pitchFamily="34" charset="-120"/>
                </a:rPr>
                <a:t>XGBoost</a:t>
              </a:r>
              <a:endParaRPr lang="en-US" sz="145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2A5621C5-D31B-15B8-121D-2B7C8F8B6281}"/>
                </a:ext>
              </a:extLst>
            </p:cNvPr>
            <p:cNvSpPr/>
            <p:nvPr/>
          </p:nvSpPr>
          <p:spPr>
            <a:xfrm>
              <a:off x="1014651" y="5033129"/>
              <a:ext cx="6117193" cy="2405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50"/>
                </a:lnSpc>
                <a:buNone/>
              </a:pPr>
              <a:r>
                <a:rPr lang="en-US" sz="11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Gradient boosting avançado para alta performance.</a:t>
              </a:r>
              <a:endParaRPr lang="en-US" sz="1150" dirty="0"/>
            </a:p>
          </p:txBody>
        </p:sp>
      </p:grpSp>
      <p:sp>
        <p:nvSpPr>
          <p:cNvPr id="17" name="Text 14">
            <a:extLst>
              <a:ext uri="{FF2B5EF4-FFF2-40B4-BE49-F238E27FC236}">
                <a16:creationId xmlns:a16="http://schemas.microsoft.com/office/drawing/2014/main" id="{AA55524E-7802-8D10-AEBD-7D3957C836E7}"/>
              </a:ext>
            </a:extLst>
          </p:cNvPr>
          <p:cNvSpPr/>
          <p:nvPr/>
        </p:nvSpPr>
        <p:spPr>
          <a:xfrm>
            <a:off x="7506176" y="8052554"/>
            <a:ext cx="1984653" cy="234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Métricas de Avaliação</a:t>
            </a:r>
            <a:endParaRPr lang="en-US" sz="14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9CDC603-9374-18FB-EE42-B86D9798549D}"/>
              </a:ext>
            </a:extLst>
          </p:cNvPr>
          <p:cNvSpPr/>
          <p:nvPr/>
        </p:nvSpPr>
        <p:spPr>
          <a:xfrm>
            <a:off x="7506176" y="8437602"/>
            <a:ext cx="6605707" cy="240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1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Acurácia geral do modelo</a:t>
            </a:r>
            <a:endParaRPr lang="en-US" sz="115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2550237-F519-9D35-7506-C0088B50ACB4}"/>
              </a:ext>
            </a:extLst>
          </p:cNvPr>
          <p:cNvSpPr/>
          <p:nvPr/>
        </p:nvSpPr>
        <p:spPr>
          <a:xfrm>
            <a:off x="7506176" y="8730615"/>
            <a:ext cx="6605707" cy="240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1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Precisão, Recall e F1 da classe SIM</a:t>
            </a:r>
            <a:endParaRPr lang="en-US" sz="11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9530089-E2B3-A0A7-BEFD-F04CF43EB09B}"/>
              </a:ext>
            </a:extLst>
          </p:cNvPr>
          <p:cNvSpPr/>
          <p:nvPr/>
        </p:nvSpPr>
        <p:spPr>
          <a:xfrm>
            <a:off x="7506176" y="9023628"/>
            <a:ext cx="6605707" cy="240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1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Matriz de confusão para interpretação detalhada</a:t>
            </a:r>
            <a:endParaRPr lang="en-US" sz="115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8E28ECF-E775-F151-CC2D-EB3D68F92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24" y="2395696"/>
            <a:ext cx="5921376" cy="489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C2FC4B0-9A77-DAB2-D1DD-07E5E92F8A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2395696"/>
            <a:ext cx="6219453" cy="4792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8104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246030"/>
            <a:ext cx="662916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Resultados dos Modelos</a:t>
            </a:r>
            <a:endParaRPr lang="en-US" sz="4450" dirty="0"/>
          </a:p>
        </p:txBody>
      </p:sp>
      <p:sp>
        <p:nvSpPr>
          <p:cNvPr id="6" name="Text 3"/>
          <p:cNvSpPr/>
          <p:nvPr/>
        </p:nvSpPr>
        <p:spPr>
          <a:xfrm>
            <a:off x="1107758" y="2707838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endParaRPr lang="en-US" sz="2650" dirty="0"/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AA7E44C9-0358-B386-E0C1-B54F59AF137B}"/>
              </a:ext>
            </a:extLst>
          </p:cNvPr>
          <p:cNvGrpSpPr/>
          <p:nvPr/>
        </p:nvGrpSpPr>
        <p:grpSpPr>
          <a:xfrm>
            <a:off x="793790" y="1913785"/>
            <a:ext cx="7852339" cy="2329502"/>
            <a:chOff x="7506174" y="8185825"/>
            <a:chExt cx="6605709" cy="1078309"/>
          </a:xfrm>
        </p:grpSpPr>
        <p:sp>
          <p:nvSpPr>
            <p:cNvPr id="19" name="Text 14"/>
            <p:cNvSpPr/>
            <p:nvPr/>
          </p:nvSpPr>
          <p:spPr>
            <a:xfrm>
              <a:off x="7506174" y="8185825"/>
              <a:ext cx="1984653" cy="23479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2000" b="1" dirty="0">
                  <a:solidFill>
                    <a:srgbClr val="030303"/>
                  </a:solidFill>
                  <a:latin typeface="DM Sans Semi Bold" pitchFamily="34" charset="0"/>
                  <a:ea typeface="DM Sans Semi Bold" pitchFamily="34" charset="-122"/>
                  <a:cs typeface="DM Sans Semi Bold" pitchFamily="34" charset="-120"/>
                </a:rPr>
                <a:t>Métricas de Avaliação</a:t>
              </a:r>
              <a:endParaRPr lang="en-US" sz="2000" b="1" dirty="0"/>
            </a:p>
          </p:txBody>
        </p:sp>
        <p:sp>
          <p:nvSpPr>
            <p:cNvPr id="20" name="Text 15"/>
            <p:cNvSpPr/>
            <p:nvPr/>
          </p:nvSpPr>
          <p:spPr>
            <a:xfrm>
              <a:off x="7506176" y="8437602"/>
              <a:ext cx="6605707" cy="2405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1850"/>
                </a:lnSpc>
                <a:buSzPct val="100000"/>
                <a:buChar char="•"/>
              </a:pPr>
              <a:r>
                <a:rPr lang="en-US" sz="160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Acurácia geral do modelo</a:t>
              </a:r>
              <a:endParaRPr lang="en-US" sz="1600" dirty="0"/>
            </a:p>
          </p:txBody>
        </p:sp>
        <p:sp>
          <p:nvSpPr>
            <p:cNvPr id="21" name="Text 16"/>
            <p:cNvSpPr/>
            <p:nvPr/>
          </p:nvSpPr>
          <p:spPr>
            <a:xfrm>
              <a:off x="7506174" y="8749151"/>
              <a:ext cx="6605707" cy="2405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1850"/>
                </a:lnSpc>
                <a:buSzPct val="100000"/>
                <a:buChar char="•"/>
              </a:pPr>
              <a:r>
                <a:rPr lang="en-US" sz="160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Precisão, Recall e F1 da classe SIM</a:t>
              </a:r>
              <a:endParaRPr lang="en-US" sz="1600" dirty="0"/>
            </a:p>
          </p:txBody>
        </p:sp>
        <p:sp>
          <p:nvSpPr>
            <p:cNvPr id="22" name="Text 17"/>
            <p:cNvSpPr/>
            <p:nvPr/>
          </p:nvSpPr>
          <p:spPr>
            <a:xfrm>
              <a:off x="7506176" y="9023628"/>
              <a:ext cx="6605707" cy="2405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1850"/>
                </a:lnSpc>
                <a:buSzPct val="100000"/>
                <a:buChar char="•"/>
              </a:pPr>
              <a:r>
                <a:rPr lang="en-US" sz="160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Matriz de confusão para interpretação detalhada</a:t>
              </a:r>
              <a:endParaRPr lang="en-US" sz="1600" dirty="0"/>
            </a:p>
          </p:txBody>
        </p:sp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01BC78D3-01E9-CDF0-AC14-D107402C1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2006" y="1116076"/>
            <a:ext cx="7394710" cy="6427724"/>
          </a:xfrm>
          <a:prstGeom prst="rect">
            <a:avLst/>
          </a:prstGeom>
        </p:spPr>
      </p:pic>
      <p:grpSp>
        <p:nvGrpSpPr>
          <p:cNvPr id="27" name="Agrupar 26">
            <a:extLst>
              <a:ext uri="{FF2B5EF4-FFF2-40B4-BE49-F238E27FC236}">
                <a16:creationId xmlns:a16="http://schemas.microsoft.com/office/drawing/2014/main" id="{86F587E7-A8CA-3E48-549B-B0EE3C9F61F2}"/>
              </a:ext>
            </a:extLst>
          </p:cNvPr>
          <p:cNvGrpSpPr/>
          <p:nvPr/>
        </p:nvGrpSpPr>
        <p:grpSpPr>
          <a:xfrm>
            <a:off x="717429" y="5484032"/>
            <a:ext cx="7229347" cy="1881239"/>
            <a:chOff x="793790" y="1046269"/>
            <a:chExt cx="7229347" cy="1881239"/>
          </a:xfrm>
        </p:grpSpPr>
        <p:sp>
          <p:nvSpPr>
            <p:cNvPr id="28" name="Text 5"/>
            <p:cNvSpPr/>
            <p:nvPr/>
          </p:nvSpPr>
          <p:spPr>
            <a:xfrm>
              <a:off x="1888561" y="2564605"/>
              <a:ext cx="6134576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endParaRPr lang="en-US" sz="1750" dirty="0"/>
            </a:p>
          </p:txBody>
        </p:sp>
        <p:sp>
          <p:nvSpPr>
            <p:cNvPr id="29" name="Text 6"/>
            <p:cNvSpPr/>
            <p:nvPr/>
          </p:nvSpPr>
          <p:spPr>
            <a:xfrm>
              <a:off x="793790" y="1046269"/>
              <a:ext cx="6134576" cy="725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1750" b="1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SVM</a:t>
              </a:r>
            </a:p>
            <a:p>
              <a:pPr>
                <a:lnSpc>
                  <a:spcPts val="2850"/>
                </a:lnSpc>
              </a:pPr>
              <a:r>
                <a:rPr lang="en-US" sz="17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O SVM </a:t>
              </a:r>
              <a:r>
                <a:rPr lang="en-US" sz="1750" dirty="0" err="1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foi</a:t>
              </a:r>
              <a:r>
                <a:rPr lang="en-US" sz="17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 escolhido como modelo final </a:t>
              </a:r>
              <a:r>
                <a:rPr lang="en-US" sz="1750" dirty="0" err="1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por</a:t>
              </a:r>
              <a:r>
                <a:rPr lang="en-US" sz="1750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 apresentar o melhor equilíbrio entre precisão e recall para a Classe positive. Acurácia de 0.88.</a:t>
              </a:r>
              <a:endParaRPr lang="en-US" sz="1750" dirty="0"/>
            </a:p>
            <a:p>
              <a:pPr>
                <a:lnSpc>
                  <a:spcPts val="2850"/>
                </a:lnSpc>
              </a:pPr>
              <a:r>
                <a:rPr lang="en-US" sz="1750" b="1" dirty="0">
                  <a:solidFill>
                    <a:srgbClr val="464646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F1 Score: 0.438</a:t>
              </a:r>
              <a:endParaRPr lang="en-US" sz="1750" dirty="0"/>
            </a:p>
            <a:p>
              <a:pPr marL="0" indent="0" algn="l">
                <a:lnSpc>
                  <a:spcPts val="2850"/>
                </a:lnSpc>
                <a:buNone/>
              </a:pPr>
              <a:endParaRPr lang="en-US" sz="175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5930" y="609600"/>
            <a:ext cx="6075998" cy="692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Modelo Final e Pipeline</a:t>
            </a:r>
            <a:endParaRPr lang="en-US" sz="4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930" y="1745694"/>
            <a:ext cx="6539270" cy="8867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7625" y="2854166"/>
            <a:ext cx="2771180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SVM Treinado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997625" y="3333631"/>
            <a:ext cx="6095881" cy="354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Modelo escolhido com melhor performance.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745694"/>
            <a:ext cx="6539270" cy="88677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36894" y="2854166"/>
            <a:ext cx="2771180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Scaler</a:t>
            </a:r>
            <a:endParaRPr lang="en-US" sz="2150" dirty="0"/>
          </a:p>
        </p:txBody>
      </p:sp>
      <p:sp>
        <p:nvSpPr>
          <p:cNvPr id="8" name="Text 4"/>
          <p:cNvSpPr/>
          <p:nvPr/>
        </p:nvSpPr>
        <p:spPr>
          <a:xfrm>
            <a:off x="7536894" y="3333631"/>
            <a:ext cx="6095881" cy="354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Padronização dos dados de entrada.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30" y="3910013"/>
            <a:ext cx="6539270" cy="88677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97625" y="5018484"/>
            <a:ext cx="2771180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Features</a:t>
            </a:r>
            <a:endParaRPr lang="en-US" sz="2150" dirty="0"/>
          </a:p>
        </p:txBody>
      </p:sp>
      <p:sp>
        <p:nvSpPr>
          <p:cNvPr id="11" name="Text 6"/>
          <p:cNvSpPr/>
          <p:nvPr/>
        </p:nvSpPr>
        <p:spPr>
          <a:xfrm>
            <a:off x="997625" y="5497949"/>
            <a:ext cx="6095881" cy="354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Lista completa de variáveis do modelo.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3910013"/>
            <a:ext cx="6539270" cy="88677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536894" y="5018484"/>
            <a:ext cx="2771180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Pipeline Salvo</a:t>
            </a:r>
            <a:endParaRPr lang="en-US" sz="2150" dirty="0"/>
          </a:p>
        </p:txBody>
      </p:sp>
      <p:sp>
        <p:nvSpPr>
          <p:cNvPr id="14" name="Text 8"/>
          <p:cNvSpPr/>
          <p:nvPr/>
        </p:nvSpPr>
        <p:spPr>
          <a:xfrm>
            <a:off x="7536894" y="5497949"/>
            <a:ext cx="6095881" cy="354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Arquivo best_model_pipeline.pkl pronto para uso.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75930" y="6323648"/>
            <a:ext cx="13078539" cy="1296710"/>
          </a:xfrm>
          <a:prstGeom prst="roundRect">
            <a:avLst>
              <a:gd name="adj" fmla="val 2565"/>
            </a:avLst>
          </a:prstGeom>
          <a:solidFill>
            <a:srgbClr val="BEF3E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625" y="6658094"/>
            <a:ext cx="277058" cy="2216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496378" y="6600706"/>
            <a:ext cx="12136398" cy="709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 pipeline completo permite fazer previsões com novos dados reais de forma rápida e confiável, mantendo toda a consistência do processamento.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305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0218" y="620792"/>
            <a:ext cx="7339489" cy="705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Interface Gráfica Interativa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90218" y="1890713"/>
            <a:ext cx="3471029" cy="352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Desenvolvida com Gradio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90218" y="2621518"/>
            <a:ext cx="112871" cy="112871"/>
          </a:xfrm>
          <a:prstGeom prst="roundRect">
            <a:avLst>
              <a:gd name="adj" fmla="val 40506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128832" y="2497336"/>
            <a:ext cx="3573423" cy="72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Inputs numéricos e categóricos intuitivos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790218" y="3795236"/>
            <a:ext cx="112871" cy="112871"/>
          </a:xfrm>
          <a:prstGeom prst="roundRect">
            <a:avLst>
              <a:gd name="adj" fmla="val 40506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128832" y="3671054"/>
            <a:ext cx="3573423" cy="72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Conversão automática para formato do modelo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790218" y="4968954"/>
            <a:ext cx="112871" cy="112871"/>
          </a:xfrm>
          <a:prstGeom prst="roundRect">
            <a:avLst>
              <a:gd name="adj" fmla="val 40506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1128832" y="4844772"/>
            <a:ext cx="3573423" cy="361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Previsão em tempo real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790218" y="5781556"/>
            <a:ext cx="112871" cy="112871"/>
          </a:xfrm>
          <a:prstGeom prst="roundRect">
            <a:avLst>
              <a:gd name="adj" fmla="val 40506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1128832" y="5657374"/>
            <a:ext cx="3573423" cy="72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Interface amigável para demonstração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1128832" y="6633567"/>
            <a:ext cx="3573423" cy="72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"Sim, o cliente vai aderir" ou "Não, o cliente não irá aderir"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790218" y="6633567"/>
            <a:ext cx="30480" cy="722233"/>
          </a:xfrm>
          <a:prstGeom prst="rect">
            <a:avLst/>
          </a:prstGeom>
          <a:solidFill>
            <a:srgbClr val="1C977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658" y="1918930"/>
            <a:ext cx="3100626" cy="31006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26D7-6AF4-09CF-B2B8-7CD8B2C97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D379F4F-13A8-BD7D-F9D4-000581DDAB3F}"/>
              </a:ext>
            </a:extLst>
          </p:cNvPr>
          <p:cNvSpPr/>
          <p:nvPr/>
        </p:nvSpPr>
        <p:spPr>
          <a:xfrm>
            <a:off x="5152154" y="4006544"/>
            <a:ext cx="7339489" cy="705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Obrigado!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11540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544</Words>
  <Application>Microsoft Office PowerPoint</Application>
  <PresentationFormat>Personalizar</PresentationFormat>
  <Paragraphs>102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Inter Medium</vt:lpstr>
      <vt:lpstr>Arial</vt:lpstr>
      <vt:lpstr>DM Sans Light</vt:lpstr>
      <vt:lpstr>DM Sans Semi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wellington printes</cp:lastModifiedBy>
  <cp:revision>10</cp:revision>
  <dcterms:created xsi:type="dcterms:W3CDTF">2025-12-06T07:13:56Z</dcterms:created>
  <dcterms:modified xsi:type="dcterms:W3CDTF">2025-12-06T07:52:30Z</dcterms:modified>
</cp:coreProperties>
</file>